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Codes réponse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bubble3D val="0"/>
            <c:spPr>
              <a:solidFill>
                <a:srgbClr val="EF4444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2xx Success</c:v>
                </c:pt>
                <c:pt idx="1">
                  <c:v>3xx Redirect</c:v>
                </c:pt>
                <c:pt idx="2">
                  <c:v>4xx Client error</c:v>
                </c:pt>
                <c:pt idx="3">
                  <c:v>No response</c:v>
                </c:pt>
                <c:pt idx="4">
                  <c:v>Blocked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2142</c:v>
                </c:pt>
                <c:pt idx="1">
                  <c:v>92</c:v>
                </c:pt>
                <c:pt idx="2">
                  <c:v>104</c:v>
                </c:pt>
                <c:pt idx="3">
                  <c:v>13</c:v>
                </c:pt>
                <c:pt idx="4">
                  <c:v>13</c:v>
                </c:pt>
              </c:numCache>
            </c:numRef>
          </c:val>
        </c:ser>
        <c:firstSliceAng val="0"/>
        <c:holeSize val="6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Pages concernées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Validation
Errors</c:v>
                  </c:pt>
                  <c:pt idx="1">
                    <c:v>Parse
Errors</c:v>
                  </c:pt>
                  <c:pt idx="2">
                    <c:v>Rich Result
Warnings</c:v>
                  </c:pt>
                  <c:pt idx="3">
                    <c:v>Rich Result
Errors</c:v>
                  </c:pt>
                  <c:pt idx="4">
                    <c:v>Rich Result
Détecté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340</c:v>
                </c:pt>
                <c:pt idx="1">
                  <c:v>315</c:v>
                </c:pt>
                <c:pt idx="2">
                  <c:v>340</c:v>
                </c:pt>
                <c:pt idx="3">
                  <c:v>79</c:v>
                </c:pt>
                <c:pt idx="4">
                  <c:v>360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Pages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700</c:v>
                </c:pt>
                <c:pt idx="2">
                  <c:v>140</c:v>
                </c:pt>
                <c:pt idx="3">
                  <c:v>111</c:v>
                </c:pt>
                <c:pt idx="4">
                  <c:v>218</c:v>
                </c:pt>
                <c:pt idx="5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10241280" y="548640"/>
            <a:ext cx="1371600" cy="1371600"/>
          </a:xfrm>
          <a:prstGeom prst="rect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10698480" y="914400"/>
            <a:ext cx="914400" cy="914400"/>
          </a:xfrm>
          <a:prstGeom prst="rect">
            <a:avLst/>
          </a:prstGeom>
          <a:solidFill>
            <a:srgbClr val="0891B2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Bulldozer Collective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hebdomadaire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 overview AlmaPay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 et comparaison semaine sur semaine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572000"/>
            <a:ext cx="32004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709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4983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almapay.com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97680" y="4572000"/>
            <a:ext cx="32004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4709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du crawl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0" y="4983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mai 2026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55280" y="4572000"/>
            <a:ext cx="32004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4709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55280" y="4983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vs S-1 (12 mai 2026)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 automatiquement depuis crawl_overview.csv. valeurs S-1 issues du crawl précédent.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•  vue d'ensemble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exécutive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almapay.com  •  13 mai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492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  •  Crawl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54864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CRAWLÉES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2 356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2 369 rencontrées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862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 : 2 356   =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37560" y="14630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463040"/>
            <a:ext cx="54864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INDEXABLES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6616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635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56616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indexables internes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2862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 : 635   =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14630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463040"/>
            <a:ext cx="54864" cy="169164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4XX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4652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44652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internes, 89 externes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6520" y="2862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 : 103   ↑ +1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098280" y="14630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98280" y="1463040"/>
            <a:ext cx="54864" cy="169164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0" y="1627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SCHEMA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32688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9326880" y="2606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56.5 % des pages HTML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326880" y="2862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 : 340   =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3383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383280"/>
            <a:ext cx="54864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3547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DESC. DUPLIQUÉES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580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68580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17.8 % des pages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" y="47823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 : 107   =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37560" y="3383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37560" y="3383280"/>
            <a:ext cx="54864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66160" y="3547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LOW CONTENT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56616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</a:t>
            </a:r>
            <a:endParaRPr lang="en-US" sz="3400" dirty="0"/>
          </a:p>
        </p:txBody>
      </p:sp>
      <p:sp>
        <p:nvSpPr>
          <p:cNvPr id="41" name="Text 39"/>
          <p:cNvSpPr/>
          <p:nvPr/>
        </p:nvSpPr>
        <p:spPr>
          <a:xfrm>
            <a:off x="356616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23.4 % des pages HTML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566160" y="47823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 : 141   =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17920" y="3383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17920" y="3383280"/>
            <a:ext cx="54864" cy="169164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3547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HREFLANG SANS X-DEFAULT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4652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383</a:t>
            </a:r>
            <a:endParaRPr lang="en-US" sz="3400" dirty="0"/>
          </a:p>
        </p:txBody>
      </p:sp>
      <p:sp>
        <p:nvSpPr>
          <p:cNvPr id="47" name="Text 45"/>
          <p:cNvSpPr/>
          <p:nvPr/>
        </p:nvSpPr>
        <p:spPr>
          <a:xfrm>
            <a:off x="64465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63.6 % des pages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46520" y="47823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 : 383   =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098280" y="33832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098280" y="3383280"/>
            <a:ext cx="54864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26880" y="3547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ORPHELINES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32688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3400" dirty="0"/>
          </a:p>
        </p:txBody>
      </p:sp>
      <p:sp>
        <p:nvSpPr>
          <p:cNvPr id="53" name="Text 51"/>
          <p:cNvSpPr/>
          <p:nvPr/>
        </p:nvSpPr>
        <p:spPr>
          <a:xfrm>
            <a:off x="932688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présentes sitemap, pas crawlées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326880" y="47823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 : 69   =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7200" y="6080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: chaque carte affiche la valeur S, la S-1 et la variation. les pastilles colorées du bord gauche signalent la sévérité (vert / orange / rouge).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•  santé technique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Volumétrie du crawl et codes réponse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almapay.com  •  13 mai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492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  •  Crawl overview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codes réponse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737360"/>
          <a:ext cx="50292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108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2 369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au total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0" y="13716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clés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0" y="1737360"/>
            <a:ext cx="24195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363102" y="1737360"/>
            <a:ext cx="8065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169603" y="1737360"/>
            <a:ext cx="8065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976104" y="1737360"/>
            <a:ext cx="9217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S/S-1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897819" y="1737360"/>
            <a:ext cx="8065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943600" y="2103120"/>
            <a:ext cx="5760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0" y="2176272"/>
            <a:ext cx="24195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rencontrées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363102" y="2176272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2 369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169603" y="2176272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2 369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976104" y="2176272"/>
            <a:ext cx="9217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1218774" y="225856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43600" y="2505456"/>
            <a:ext cx="5760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0" y="2505456"/>
            <a:ext cx="24195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crawlées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363102" y="2505456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2 356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9169603" y="2505456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2 356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976104" y="2505456"/>
            <a:ext cx="9217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1218774" y="258775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943600" y="2834640"/>
            <a:ext cx="5760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0" y="2834640"/>
            <a:ext cx="24195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internes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363102" y="2834640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9169603" y="2834640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976104" y="2834640"/>
            <a:ext cx="9217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11218774" y="291693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0" y="3163824"/>
            <a:ext cx="5760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43600" y="3163824"/>
            <a:ext cx="24195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externes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363102" y="3163824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1 669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9169603" y="3163824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1 669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9976104" y="3163824"/>
            <a:ext cx="9217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11218774" y="32461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943600" y="3493008"/>
            <a:ext cx="5760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43600" y="3493008"/>
            <a:ext cx="24195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2xx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8363102" y="3493008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2 146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9169603" y="3493008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2 142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9976104" y="3493008"/>
            <a:ext cx="9217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218774" y="357530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943600" y="3822192"/>
            <a:ext cx="5760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943600" y="3822192"/>
            <a:ext cx="24195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Redirections 3xx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8363102" y="3822192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9169603" y="3822192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9976104" y="3822192"/>
            <a:ext cx="9217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2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11218774" y="390448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943600" y="4151376"/>
            <a:ext cx="5760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943600" y="4151376"/>
            <a:ext cx="24195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4xx (internes)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8363102" y="4151376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56" name="Text 53"/>
          <p:cNvSpPr/>
          <p:nvPr/>
        </p:nvSpPr>
        <p:spPr>
          <a:xfrm>
            <a:off x="9169603" y="4151376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9976104" y="4151376"/>
            <a:ext cx="9217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11218774" y="423367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5943600" y="4480560"/>
            <a:ext cx="5760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943600" y="4480560"/>
            <a:ext cx="24195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4xx (externes)</a:t>
            </a:r>
            <a:endParaRPr lang="en-US" sz="1100" dirty="0"/>
          </a:p>
        </p:txBody>
      </p:sp>
      <p:sp>
        <p:nvSpPr>
          <p:cNvPr id="61" name="Text 58"/>
          <p:cNvSpPr/>
          <p:nvPr/>
        </p:nvSpPr>
        <p:spPr>
          <a:xfrm>
            <a:off x="8363102" y="4480560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100" dirty="0"/>
          </a:p>
        </p:txBody>
      </p:sp>
      <p:sp>
        <p:nvSpPr>
          <p:cNvPr id="62" name="Text 59"/>
          <p:cNvSpPr/>
          <p:nvPr/>
        </p:nvSpPr>
        <p:spPr>
          <a:xfrm>
            <a:off x="9169603" y="4480560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9976104" y="4480560"/>
            <a:ext cx="9217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+1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11218774" y="456285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5943600" y="4809744"/>
            <a:ext cx="5760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943600" y="4809744"/>
            <a:ext cx="24195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response</a:t>
            </a:r>
            <a:endParaRPr lang="en-US" sz="1100" dirty="0"/>
          </a:p>
        </p:txBody>
      </p:sp>
      <p:sp>
        <p:nvSpPr>
          <p:cNvPr id="67" name="Text 64"/>
          <p:cNvSpPr/>
          <p:nvPr/>
        </p:nvSpPr>
        <p:spPr>
          <a:xfrm>
            <a:off x="8363102" y="4809744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9169603" y="4809744"/>
            <a:ext cx="8065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9976104" y="4809744"/>
            <a:ext cx="9217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+3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11218774" y="489204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crawl : 29 min 55 s. couverture : 99.5 % des URLs rencontrées effectivement crawlées.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•  signaux d'indexation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Indexabilité et directives robots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almapay.com  •  13 mai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492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  •  Crawl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7033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73152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361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INDEXABLES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8288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635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85800" y="24505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26.8 % du total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79392" y="1371600"/>
            <a:ext cx="37033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79392" y="1371600"/>
            <a:ext cx="73152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07992" y="15361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NON INDEXABLES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07992" y="18288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507992" y="24505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2.74 % du total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01584" y="1371600"/>
            <a:ext cx="370332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01584" y="1371600"/>
            <a:ext cx="73152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0184" y="15361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NOINDEX EXPLICITES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30184" y="18288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330184" y="24505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3.78 % du total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des directives et hygiène URL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291840"/>
            <a:ext cx="47237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80990" y="3291840"/>
            <a:ext cx="15745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55587" y="3291840"/>
            <a:ext cx="15745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30184" y="3291840"/>
            <a:ext cx="17995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S/S-1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129723" y="3291840"/>
            <a:ext cx="15745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730752"/>
            <a:ext cx="47237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en majuscules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80990" y="3730752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55587" y="3730752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30184" y="3730752"/>
            <a:ext cx="17995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834726" y="3803904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0416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041648"/>
            <a:ext cx="47237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avec underscores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80990" y="4041648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55587" y="4041648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30184" y="4041648"/>
            <a:ext cx="17995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834726" y="411480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352544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352544"/>
            <a:ext cx="47237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avec espaces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80990" y="4352544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55587" y="4352544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330184" y="4352544"/>
            <a:ext cx="17995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834726" y="442569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4663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663440"/>
            <a:ext cx="47237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avec paramètres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80990" y="4663440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755587" y="4663440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330184" y="4663440"/>
            <a:ext cx="17995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0834726" y="473659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" y="4974336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974336"/>
            <a:ext cx="47237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au-delà de 115 caractères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180990" y="4974336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755587" y="4974336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330184" y="4974336"/>
            <a:ext cx="17995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0834726" y="504748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7200" y="5285232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5285232"/>
            <a:ext cx="47237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noindex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180990" y="5285232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755587" y="5285232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8330184" y="5285232"/>
            <a:ext cx="17995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0834726" y="535838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57200" y="559612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5596128"/>
            <a:ext cx="47237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Bloquées par robots.txt (externes)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180990" y="5596128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755587" y="5596128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8330184" y="5596128"/>
            <a:ext cx="17995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10834726" y="566928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•  on-page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Titles, meta descriptions et headings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almapay.com  •  13 mai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492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  •  Crawl overview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titles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0" y="16916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S/S-1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5486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305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titles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130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2130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0560" y="21305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41264" y="220370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441448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4414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Manquants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24414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4414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244144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41264" y="251460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752344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7523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Dupliqués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27523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0" y="27523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80560" y="275234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41264" y="282549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06324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0632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30 caractères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00400" y="3063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40480" y="3063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80560" y="30632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41264" y="313639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374136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3741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de 60 car.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0" y="337413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40480" y="337413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480560" y="337413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541264" y="344728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3685032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685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Identiques au H1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200400" y="36850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840480" y="36850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480560" y="368503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541264" y="375818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descriptions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5720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200400" y="4526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840480" y="4526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480560" y="45262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S/S-1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303520" y="4526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4892040"/>
            <a:ext cx="5486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9651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Manquantes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200400" y="496519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840480" y="496519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480560" y="496519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541264" y="503834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7200" y="5276088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527608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Dupliquées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200400" y="527608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3840480" y="527608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4480560" y="52760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541264" y="534924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7200" y="5586984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55869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155 car.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3200400" y="558698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3840480" y="558698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4480560" y="558698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5541264" y="566013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57200" y="589788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7200" y="5897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70 caractères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3200400" y="5897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3840480" y="58978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4480560" y="58978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5541264" y="597103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21792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621792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896112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960120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10241280" y="16916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S/S-1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1106424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6217920" y="2057400"/>
            <a:ext cx="5486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17920" y="21305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H1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8961120" y="2130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662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9601200" y="2130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662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10241280" y="21305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11301984" y="220370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217920" y="2441448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217920" y="24414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Manquants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8961120" y="24414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9601200" y="24414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10241280" y="244144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11301984" y="251460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217920" y="2752344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217920" y="27523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Dupliqués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8961120" y="27523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9601200" y="27523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10241280" y="275234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11301984" y="282549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217920" y="306324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217920" y="30632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70 car.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8961120" y="3063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9601200" y="3063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200" dirty="0"/>
          </a:p>
        </p:txBody>
      </p:sp>
      <p:sp>
        <p:nvSpPr>
          <p:cNvPr id="107" name="Text 105"/>
          <p:cNvSpPr/>
          <p:nvPr/>
        </p:nvSpPr>
        <p:spPr>
          <a:xfrm>
            <a:off x="10241280" y="30632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11301984" y="313639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21792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621792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111" name="Text 109"/>
          <p:cNvSpPr/>
          <p:nvPr/>
        </p:nvSpPr>
        <p:spPr>
          <a:xfrm>
            <a:off x="8961120" y="3977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>
            <a:off x="9601200" y="3977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113" name="Text 111"/>
          <p:cNvSpPr/>
          <p:nvPr/>
        </p:nvSpPr>
        <p:spPr>
          <a:xfrm>
            <a:off x="10241280" y="39776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S/S-1</a:t>
            </a:r>
            <a:endParaRPr lang="en-US" sz="1000" dirty="0"/>
          </a:p>
        </p:txBody>
      </p:sp>
      <p:sp>
        <p:nvSpPr>
          <p:cNvPr id="114" name="Text 112"/>
          <p:cNvSpPr/>
          <p:nvPr/>
        </p:nvSpPr>
        <p:spPr>
          <a:xfrm>
            <a:off x="11064240" y="3977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6217920" y="4343400"/>
            <a:ext cx="5486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217920" y="44165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Manquants</a:t>
            </a:r>
            <a:endParaRPr lang="en-US" sz="1100" dirty="0"/>
          </a:p>
        </p:txBody>
      </p:sp>
      <p:sp>
        <p:nvSpPr>
          <p:cNvPr id="117" name="Text 115"/>
          <p:cNvSpPr/>
          <p:nvPr/>
        </p:nvSpPr>
        <p:spPr>
          <a:xfrm>
            <a:off x="8961120" y="4416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18" name="Text 116"/>
          <p:cNvSpPr/>
          <p:nvPr/>
        </p:nvSpPr>
        <p:spPr>
          <a:xfrm>
            <a:off x="9601200" y="4416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19" name="Text 117"/>
          <p:cNvSpPr/>
          <p:nvPr/>
        </p:nvSpPr>
        <p:spPr>
          <a:xfrm>
            <a:off x="10241280" y="44165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11301984" y="448970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217920" y="4727448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217920" y="47274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Dupliqués</a:t>
            </a:r>
            <a:endParaRPr lang="en-US" sz="1100" dirty="0"/>
          </a:p>
        </p:txBody>
      </p:sp>
      <p:sp>
        <p:nvSpPr>
          <p:cNvPr id="123" name="Text 121"/>
          <p:cNvSpPr/>
          <p:nvPr/>
        </p:nvSpPr>
        <p:spPr>
          <a:xfrm>
            <a:off x="8961120" y="47274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1100" dirty="0"/>
          </a:p>
        </p:txBody>
      </p:sp>
      <p:sp>
        <p:nvSpPr>
          <p:cNvPr id="124" name="Text 122"/>
          <p:cNvSpPr/>
          <p:nvPr/>
        </p:nvSpPr>
        <p:spPr>
          <a:xfrm>
            <a:off x="9601200" y="47274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1200" dirty="0"/>
          </a:p>
        </p:txBody>
      </p:sp>
      <p:sp>
        <p:nvSpPr>
          <p:cNvPr id="125" name="Text 123"/>
          <p:cNvSpPr/>
          <p:nvPr/>
        </p:nvSpPr>
        <p:spPr>
          <a:xfrm>
            <a:off x="10241280" y="472744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126" name="Shape 124"/>
          <p:cNvSpPr/>
          <p:nvPr/>
        </p:nvSpPr>
        <p:spPr>
          <a:xfrm>
            <a:off x="11301984" y="480060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217920" y="5038344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217920" y="50383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Multiples</a:t>
            </a:r>
            <a:endParaRPr lang="en-US" sz="1100" dirty="0"/>
          </a:p>
        </p:txBody>
      </p:sp>
      <p:sp>
        <p:nvSpPr>
          <p:cNvPr id="129" name="Text 127"/>
          <p:cNvSpPr/>
          <p:nvPr/>
        </p:nvSpPr>
        <p:spPr>
          <a:xfrm>
            <a:off x="8961120" y="50383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30" name="Text 128"/>
          <p:cNvSpPr/>
          <p:nvPr/>
        </p:nvSpPr>
        <p:spPr>
          <a:xfrm>
            <a:off x="9601200" y="50383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31" name="Text 129"/>
          <p:cNvSpPr/>
          <p:nvPr/>
        </p:nvSpPr>
        <p:spPr>
          <a:xfrm>
            <a:off x="10241280" y="503834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132" name="Shape 130"/>
          <p:cNvSpPr/>
          <p:nvPr/>
        </p:nvSpPr>
        <p:spPr>
          <a:xfrm>
            <a:off x="11301984" y="511149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217920" y="534924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217920" y="53492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séquentiels</a:t>
            </a:r>
            <a:endParaRPr lang="en-US" sz="1100" dirty="0"/>
          </a:p>
        </p:txBody>
      </p:sp>
      <p:sp>
        <p:nvSpPr>
          <p:cNvPr id="135" name="Text 133"/>
          <p:cNvSpPr/>
          <p:nvPr/>
        </p:nvSpPr>
        <p:spPr>
          <a:xfrm>
            <a:off x="8961120" y="5349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136" name="Text 134"/>
          <p:cNvSpPr/>
          <p:nvPr/>
        </p:nvSpPr>
        <p:spPr>
          <a:xfrm>
            <a:off x="9601200" y="5349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200" dirty="0"/>
          </a:p>
        </p:txBody>
      </p:sp>
      <p:sp>
        <p:nvSpPr>
          <p:cNvPr id="137" name="Text 135"/>
          <p:cNvSpPr/>
          <p:nvPr/>
        </p:nvSpPr>
        <p:spPr>
          <a:xfrm>
            <a:off x="10241280" y="53492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138" name="Shape 136"/>
          <p:cNvSpPr/>
          <p:nvPr/>
        </p:nvSpPr>
        <p:spPr>
          <a:xfrm>
            <a:off x="11301984" y="542239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•  contenu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du contenu et optimisation des images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almapay.com  •  13 mai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492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  •  Crawl overview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textuel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0" y="16916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S/S-1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5486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305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content pages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130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2130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0560" y="21305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41264" y="220370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441448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4414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difficile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24414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4414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244144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41264" y="251460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752344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7523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très difficile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27523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0" y="27523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80560" y="275234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41264" y="282549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06324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0632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Duplications exactes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00400" y="3063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40480" y="3063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80560" y="30632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41264" y="313639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374136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3741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duplicates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0" y="337413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40480" y="337413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480560" y="337413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541264" y="344728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3685032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685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 ipsum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200400" y="36850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840480" y="36850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480560" y="368503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541264" y="375818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21792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96112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60120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241280" y="16916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S/S-1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106424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17920" y="2057400"/>
            <a:ext cx="5486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17920" y="21305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961120" y="2130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662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9601200" y="2130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662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0241280" y="21305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11301984" y="220370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17920" y="2441448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17920" y="24414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de 100 KB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8961120" y="24414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9601200" y="24414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0241280" y="244144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11301984" y="251460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217920" y="2752344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17920" y="27523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width/height attr.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8961120" y="27523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1 049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9601200" y="27523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1 049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10241280" y="275234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11301984" y="282549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17920" y="306324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17920" y="30632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text manquant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8961120" y="3063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9601200" y="3063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10241280" y="30632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11301984" y="313639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17920" y="3374136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17920" y="33741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 alt manquant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8961120" y="337413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9601200" y="337413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10241280" y="337413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11301984" y="344728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217920" y="3685032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17920" y="3685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au-delà 100 car.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8961120" y="36850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9601200" y="36850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10241280" y="368503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11301984" y="375818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57200" y="5029200"/>
            <a:ext cx="11247120" cy="100584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57200" y="502920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85800" y="5120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d'attention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685800" y="5394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80.6 % des images sont servies sans attributs width/height. impact direct sur CLS et Core Web Vitals. 35.4 % dépassent 100 KB et méritent une revue de compression.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•  i18n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: canonicals et hreflang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almapay.com  •  13 mai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492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  •  Crawl overview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0" y="16916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S/S-1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5486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305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 canonical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130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2130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0560" y="21305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41264" y="220370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441448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4414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Self-referencing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24414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4414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244144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41264" y="251460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752344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7523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Canonicalised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27523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0" y="27523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80560" y="275234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41264" y="282549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06324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0632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Non-indexable canonical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00400" y="3063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40480" y="3063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80560" y="30632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41264" y="313639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374136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3741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Manquants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0" y="337413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40480" y="337413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480560" y="337413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541264" y="344728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3685032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685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Conflits multiples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200400" y="36850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840480" y="36850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480560" y="368503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541264" y="375818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hreflang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21792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96112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60120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241280" y="16916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S/S-1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106424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17920" y="2057400"/>
            <a:ext cx="5486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17920" y="21305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avec hreflang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961120" y="2130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589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9601200" y="2130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589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0241280" y="21305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11301984" y="220370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17920" y="2441448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17920" y="24414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x-default manquant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8961120" y="24414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383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9601200" y="24414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383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0241280" y="244144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11301984" y="251460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217920" y="2752344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17920" y="27523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links manquants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8961120" y="27523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9601200" y="275234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10241280" y="275234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11301984" y="282549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17920" y="306324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17920" y="30632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reference manquant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8961120" y="3063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9601200" y="3063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10241280" y="30632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11301984" y="313639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17920" y="3374136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17920" y="33741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hreflang non-200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8961120" y="337413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9601200" y="337413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10241280" y="337413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11301984" y="344728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217920" y="3685032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17920" y="368503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Hreflang totalement absent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8961120" y="36850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9601200" y="36850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10241280" y="368503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11301984" y="375818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57200" y="5029200"/>
            <a:ext cx="11247120" cy="100584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57200" y="5029200"/>
            <a:ext cx="73152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85800" y="5120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forte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685800" y="5394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63.6 % des pages n'ont pas de x-default déclaré. 32 pages ont des return links manquants, ce qui invalide la grappe hreflang correspondante.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•  données structurées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: couverture et validité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almapay.com  •  13 mai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492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  •  Crawl overview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et warnings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78308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621792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1792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961120" y="1783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601200" y="1783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241280" y="1783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S/S-1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1064240" y="1783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2148840"/>
            <a:ext cx="5486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0" y="22219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avec structured data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961120" y="222199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601200" y="222199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241280" y="222199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1301984" y="230428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17920" y="2551176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0" y="255117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JSON-LD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961120" y="255117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601200" y="255117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602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241280" y="255117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11301984" y="263347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17920" y="288036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28803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errors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961120" y="288036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9601200" y="288036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0241280" y="288036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301984" y="296265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17920" y="3209544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217920" y="32095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errors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961120" y="320954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9601200" y="320954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0241280" y="320954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11301984" y="329184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217920" y="3538728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217920" y="35387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result errors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961120" y="353872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9601200" y="353872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10241280" y="353872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11301984" y="362102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217920" y="3867912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217920" y="38679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result warnings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8961120" y="386791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9601200" y="386791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10241280" y="38679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11301984" y="3950208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217920" y="4197096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217920" y="419709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result feature détecté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8961120" y="419709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9601200" y="419709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10241280" y="419709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11301984" y="427939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: couverture 100 % en JSON-LD mais 56.5 % des pages ont au moins une erreur de validation.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•  architecture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Sitemap, orphelines et profondeur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almapay.com  •  13 mai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492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  •  Crawl overview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0" y="16916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S/S-1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5486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305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dans sitemap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1305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21305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0560" y="213055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41264" y="219456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42316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423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hors sitemap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24231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4231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24231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41264" y="248716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715768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715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orphelines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271576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0" y="271576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80560" y="27157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41264" y="277977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008376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0083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Non-indexables en sitemap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00400" y="300837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40480" y="300837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80560" y="300837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41264" y="307238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300984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3009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 &gt; 50k URLs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0" y="330098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40480" y="330098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480560" y="33009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541264" y="336499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text et linking interne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00400" y="4343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840480" y="4343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480560" y="43434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S/S-1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03520" y="43434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4709160"/>
            <a:ext cx="5486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7823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Outlinks sans anchor text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200400" y="47823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598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840480" y="47823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598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480560" y="47823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541264" y="484632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" y="507492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5074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non descriptif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200400" y="50749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840480" y="50749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480560" y="50749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541264" y="513892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7200" y="5367528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53675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profondeur élevée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200400" y="53675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3840480" y="536752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4480560" y="536752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541264" y="543153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1792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profondeur de clic (depuis l'accueil)</a:t>
            </a:r>
            <a:endParaRPr lang="en-US" sz="1200" dirty="0"/>
          </a:p>
        </p:txBody>
      </p:sp>
      <p:graphicFrame>
        <p:nvGraphicFramePr>
          <p:cNvPr id="68" name="Chart 0" descr=""/>
          <p:cNvGraphicFramePr/>
          <p:nvPr/>
        </p:nvGraphicFramePr>
        <p:xfrm>
          <a:off x="6217920" y="178308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9" name="Text 66"/>
          <p:cNvSpPr/>
          <p:nvPr/>
        </p:nvSpPr>
        <p:spPr>
          <a:xfrm>
            <a:off x="6217920" y="5806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59.5 % des pages se trouvent à 1 clic. à surveiller pour la dilution du PageRank interne.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•  perf et sécurité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PageSpeed et headers de sécurité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almapay.com  •  13 mai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492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  •  Crawl overview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opportunités PageSpeed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80560" y="16916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S/S-1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5486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305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blocking requests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21305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21305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0560" y="213055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41264" y="219456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42316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423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JavaScript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24231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4231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24231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41264" y="2487168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715768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715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shift culprits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271576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0" y="271576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80560" y="27157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41264" y="277977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008376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0083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JS execution time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00400" y="300837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840480" y="300837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80560" y="300837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9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41264" y="3072384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300984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3009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display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0" y="330098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40480" y="330098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571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480560" y="33009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541264" y="3364992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3593592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593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main-thread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200400" y="35935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840480" y="35935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480560" y="3593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10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541264" y="365760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7200" y="388620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3886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unused CSS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200400" y="38862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481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840480" y="38862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509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480560" y="38862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+28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541264" y="3950208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7200" y="4178808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41788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DOM size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200400" y="41788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840480" y="41788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483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480560" y="41788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29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541264" y="424281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7200" y="4471416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44714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unused JS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200400" y="447141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341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3840480" y="447141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4480560" y="447141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40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541264" y="453542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1792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de sécurité manquants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621792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96112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960120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10241280" y="16916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S/S-1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11064240" y="1691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217920" y="2057400"/>
            <a:ext cx="5486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17920" y="21305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X-Content-Type-Options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8961120" y="21305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662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9601200" y="21305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662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10241280" y="213055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11301984" y="219456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17920" y="242316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217920" y="2423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X-Frame-Options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8961120" y="24231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662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9601200" y="242316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662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10241280" y="24231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11301984" y="2487168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217920" y="2715768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217920" y="2715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Referrer-Policy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8961120" y="271576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662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9601200" y="271576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662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10241280" y="27157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11301984" y="277977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217920" y="3008376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217920" y="30083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Content-Security-Policy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8961120" y="300837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645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9601200" y="300837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645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10241280" y="300837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11301984" y="3072384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217920" y="3300984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217920" y="33009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cross-origin links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8961120" y="330098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9601200" y="330098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10241280" y="33009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102" name="Shape 100"/>
          <p:cNvSpPr/>
          <p:nvPr/>
        </p:nvSpPr>
        <p:spPr>
          <a:xfrm>
            <a:off x="11301984" y="336499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217920" y="3593592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217920" y="3593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HSTS Header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8961120" y="35935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9601200" y="35935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07" name="Text 105"/>
          <p:cNvSpPr/>
          <p:nvPr/>
        </p:nvSpPr>
        <p:spPr>
          <a:xfrm>
            <a:off x="10241280" y="35935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11301984" y="365760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217920" y="3886200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217920" y="3886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content</a:t>
            </a:r>
            <a:endParaRPr lang="en-US" sz="1100" dirty="0"/>
          </a:p>
        </p:txBody>
      </p:sp>
      <p:sp>
        <p:nvSpPr>
          <p:cNvPr id="111" name="Text 109"/>
          <p:cNvSpPr/>
          <p:nvPr/>
        </p:nvSpPr>
        <p:spPr>
          <a:xfrm>
            <a:off x="8961120" y="38862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9601200" y="38862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13" name="Text 111"/>
          <p:cNvSpPr/>
          <p:nvPr/>
        </p:nvSpPr>
        <p:spPr>
          <a:xfrm>
            <a:off x="10241280" y="38862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114" name="Shape 112"/>
          <p:cNvSpPr/>
          <p:nvPr/>
        </p:nvSpPr>
        <p:spPr>
          <a:xfrm>
            <a:off x="11301984" y="395020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217920" y="4178808"/>
            <a:ext cx="54864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217920" y="41788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HTTP</a:t>
            </a:r>
            <a:endParaRPr lang="en-US" sz="1100" dirty="0"/>
          </a:p>
        </p:txBody>
      </p:sp>
      <p:sp>
        <p:nvSpPr>
          <p:cNvPr id="117" name="Text 115"/>
          <p:cNvSpPr/>
          <p:nvPr/>
        </p:nvSpPr>
        <p:spPr>
          <a:xfrm>
            <a:off x="8961120" y="41788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18" name="Text 116"/>
          <p:cNvSpPr/>
          <p:nvPr/>
        </p:nvSpPr>
        <p:spPr>
          <a:xfrm>
            <a:off x="9601200" y="41788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19" name="Text 117"/>
          <p:cNvSpPr/>
          <p:nvPr/>
        </p:nvSpPr>
        <p:spPr>
          <a:xfrm>
            <a:off x="10241280" y="41788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11301984" y="424281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•  GSC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Search Console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almapay.com  •  13 mai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492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  •  Crawl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73152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81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AVEC CLICS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7556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407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85800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63.6 % des URLs avec data GSC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06240" y="137160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1371600"/>
            <a:ext cx="73152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1481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AVEC ISSUES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34840" y="17556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434840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45.5 % des URLs avec data GSC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1371600"/>
            <a:ext cx="3657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371600"/>
            <a:ext cx="73152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1481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NON INDEXÉES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83880" y="17556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8183880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5.63 % des URLs avec data GSC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108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Search Console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429000"/>
            <a:ext cx="47237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80990" y="3429000"/>
            <a:ext cx="15745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55587" y="3429000"/>
            <a:ext cx="15745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30184" y="3429000"/>
            <a:ext cx="17995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S/S-1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129723" y="3429000"/>
            <a:ext cx="15745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79476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867912"/>
            <a:ext cx="47237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avec data Search Console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80990" y="3867912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55587" y="3867912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330184" y="3867912"/>
            <a:ext cx="17995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834726" y="394106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17880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178808"/>
            <a:ext cx="47237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Indexable URL non indexée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80990" y="4178808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55587" y="4178808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30184" y="4178808"/>
            <a:ext cx="17995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834726" y="42519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489704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489704"/>
            <a:ext cx="47237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is on Google but has issues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80990" y="4489704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55587" y="4489704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330184" y="4489704"/>
            <a:ext cx="17995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834726" y="456285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480060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800600"/>
            <a:ext cx="47237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Result Invalid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80990" y="4800600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755587" y="4800600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330184" y="4800600"/>
            <a:ext cx="17995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0834726" y="4873752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" y="5111496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5111496"/>
            <a:ext cx="47237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User-Declared Canonical Not Selected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180990" y="5111496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755587" y="5111496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330184" y="5111496"/>
            <a:ext cx="17995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0834726" y="518464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7200" y="5422392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5422392"/>
            <a:ext cx="47237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mobile-friendly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180990" y="5422392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755587" y="5422392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8330184" y="5422392"/>
            <a:ext cx="17995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0834726" y="549554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57200" y="573328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5733288"/>
            <a:ext cx="47237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orphelines (data GSC)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180990" y="5733288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755587" y="5733288"/>
            <a:ext cx="15745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8330184" y="5733288"/>
            <a:ext cx="17995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10834726" y="580644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•  next steps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54864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et priorités semaine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almapay.com  •  13 mai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0" y="6492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AlmaPay  •  Crawl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70332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370332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5544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haute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33375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width/height attr. (1 049, 80.6 %)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X-Content-Type-Options (662, 94.6 %)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X-Frame-Options (662, 94.6 %)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Referrer-Policy (662, 94.6 %)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Content-Security-Policy (645, 92.1 %)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51960" y="1371600"/>
            <a:ext cx="370332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1371600"/>
            <a:ext cx="37033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5544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moyenne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2011680"/>
            <a:ext cx="33375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unused JS (301, 50.0 %)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content pages (141, 23.4 %)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Dupliquées (107, 17.8 %)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Dupliqués (107, 17.8 %)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30 caractères (96, 15.9 %)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1371600"/>
            <a:ext cx="370332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1371600"/>
            <a:ext cx="370332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15544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surveiller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5320" y="2011680"/>
            <a:ext cx="33375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Redirections 3xx (92, 3.88 %)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de 60 car. (30, 4.98 %)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155 car. (29, 4.82 %)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cross-origin links (23, 3.29 %)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Bloquées par robots.txt (externes) (13, 0.55 %)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deltas et statuts calculés automatiquement à partir du crawl S-1. pour le crawl S+1 : node generate.js --current S+1.csv --previous S.csv ...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Crawl overview AlmaPay</dc:title>
  <dc:subject>PptxGenJS Presentation</dc:subject>
  <dc:creator>Bulldozer Collective</dc:creator>
  <cp:lastModifiedBy>Bulldozer Collective</cp:lastModifiedBy>
  <cp:revision>1</cp:revision>
  <dcterms:created xsi:type="dcterms:W3CDTF">2026-05-13T08:49:27Z</dcterms:created>
  <dcterms:modified xsi:type="dcterms:W3CDTF">2026-05-13T08:49:27Z</dcterms:modified>
</cp:coreProperties>
</file>